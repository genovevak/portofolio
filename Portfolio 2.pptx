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ormorant Garamond Bold Italics" charset="1" panose="00000800000000000000"/>
      <p:regular r:id="rId20"/>
    </p:embeddedFont>
    <p:embeddedFont>
      <p:font typeface="Quicksand" charset="1" panose="00000000000000000000"/>
      <p:regular r:id="rId21"/>
    </p:embeddedFont>
    <p:embeddedFont>
      <p:font typeface="Quicksand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Portfolio 2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08475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Scraping and NLP M-Pajak aplikasi 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2179" y="7032069"/>
            <a:ext cx="11643643" cy="107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“Analisis Review dan Persepsi Pengguna terhadap Aplikasi M-Pajak DJP”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2179" y="1967581"/>
            <a:ext cx="11643643" cy="52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by Genoveva Kameubun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3754" y="4293667"/>
            <a:ext cx="9960491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M-Pajak adalah aplikasi resmi dari DJP.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Bertujuan untuk memudahkan WP(Wajib Pajak) dalam pelaporan dan pembayaran pajak.</a:t>
            </a:r>
          </a:p>
          <a:p>
            <a:pPr algn="r" marL="0" indent="0" lvl="0">
              <a:lnSpc>
                <a:spcPts val="40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30743" y="8641536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24705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Pengenalan M-pajak App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236864" y="905695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Tujuan Analisis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5340" y="5597231"/>
            <a:ext cx="501732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Mengetahui bagian mana yang sudah baik dan mana yang harus diperbaiki.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57535" y="5597231"/>
            <a:ext cx="501732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Menggunakan NLP dan Visualisasi untuk ekstraksi insight.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145" y="5479065"/>
            <a:ext cx="501732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Menganalisis komentar user dari Google Play review sebagai data mentah.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5079" y="3356537"/>
            <a:ext cx="3423549" cy="109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43"/>
              </a:lnSpc>
              <a:spcBef>
                <a:spcPct val="0"/>
              </a:spcBef>
            </a:pPr>
            <a:r>
              <a:rPr lang="en-US" b="true" sz="645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60449" y="3356537"/>
            <a:ext cx="3423549" cy="109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43"/>
              </a:lnSpc>
              <a:spcBef>
                <a:spcPct val="0"/>
              </a:spcBef>
            </a:pPr>
            <a:r>
              <a:rPr lang="en-US" b="true" sz="645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87005" y="3356537"/>
            <a:ext cx="3423549" cy="109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43"/>
              </a:lnSpc>
              <a:spcBef>
                <a:spcPct val="0"/>
              </a:spcBef>
            </a:pPr>
            <a:r>
              <a:rPr lang="en-US" b="true" sz="645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55527" y="2831636"/>
            <a:ext cx="5385764" cy="6426664"/>
            <a:chOff x="0" y="0"/>
            <a:chExt cx="1418473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145145"/>
            <a:ext cx="7058608" cy="5010228"/>
          </a:xfrm>
          <a:custGeom>
            <a:avLst/>
            <a:gdLst/>
            <a:ahLst/>
            <a:cxnLst/>
            <a:rect r="r" b="b" t="t" l="l"/>
            <a:pathLst>
              <a:path h="5010228" w="7058608">
                <a:moveTo>
                  <a:pt x="0" y="0"/>
                </a:moveTo>
                <a:lnTo>
                  <a:pt x="7058608" y="0"/>
                </a:lnTo>
                <a:lnTo>
                  <a:pt x="7058608" y="5010228"/>
                </a:lnTo>
                <a:lnTo>
                  <a:pt x="0" y="5010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441220"/>
            <a:ext cx="7058608" cy="2027599"/>
          </a:xfrm>
          <a:custGeom>
            <a:avLst/>
            <a:gdLst/>
            <a:ahLst/>
            <a:cxnLst/>
            <a:rect r="r" b="b" t="t" l="l"/>
            <a:pathLst>
              <a:path h="2027599" w="7058608">
                <a:moveTo>
                  <a:pt x="0" y="0"/>
                </a:moveTo>
                <a:lnTo>
                  <a:pt x="7058608" y="0"/>
                </a:lnTo>
                <a:lnTo>
                  <a:pt x="7058608" y="2027599"/>
                </a:lnTo>
                <a:lnTo>
                  <a:pt x="0" y="2027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59" r="0" b="-375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Scraping Data M-pajak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66035" y="4029430"/>
            <a:ext cx="4686527" cy="421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975" indent="-237988" lvl="1">
              <a:lnSpc>
                <a:spcPts val="3747"/>
              </a:lnSpc>
              <a:buFont typeface="Arial"/>
              <a:buChar char="•"/>
            </a:pPr>
            <a:r>
              <a:rPr lang="en-US" sz="22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Teknik scraping digunakan untuk mengumpulkan ulasan aplikasi M-Pajak dari Google Play.</a:t>
            </a:r>
          </a:p>
          <a:p>
            <a:pPr algn="l" marL="475975" indent="-237988" lvl="1">
              <a:lnSpc>
                <a:spcPts val="3747"/>
              </a:lnSpc>
              <a:buFont typeface="Arial"/>
              <a:buChar char="•"/>
            </a:pPr>
            <a:r>
              <a:rPr lang="en-US" sz="22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Tools: google-play-scraper</a:t>
            </a:r>
          </a:p>
          <a:p>
            <a:pPr algn="l" marL="475975" indent="-237988" lvl="1">
              <a:lnSpc>
                <a:spcPts val="3747"/>
              </a:lnSpc>
              <a:buFont typeface="Arial"/>
              <a:buChar char="•"/>
            </a:pPr>
            <a:r>
              <a:rPr lang="en-US" sz="22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dikumpulkan secara real-time dalam periode:</a:t>
            </a:r>
          </a:p>
          <a:p>
            <a:pPr algn="l">
              <a:lnSpc>
                <a:spcPts val="3747"/>
              </a:lnSpc>
            </a:pPr>
            <a:r>
              <a:rPr lang="en-US" sz="220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     01 Februari 2024 – 28 April 2025</a:t>
            </a:r>
          </a:p>
          <a:p>
            <a:pPr algn="l">
              <a:lnSpc>
                <a:spcPts val="37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719" y="7690740"/>
            <a:ext cx="5385764" cy="2469976"/>
            <a:chOff x="0" y="0"/>
            <a:chExt cx="1418473" cy="650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473" cy="650529"/>
            </a:xfrm>
            <a:custGeom>
              <a:avLst/>
              <a:gdLst/>
              <a:ahLst/>
              <a:cxnLst/>
              <a:rect r="r" b="b" t="t" l="l"/>
              <a:pathLst>
                <a:path h="650529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577217"/>
                  </a:lnTo>
                  <a:cubicBezTo>
                    <a:pt x="1418473" y="617706"/>
                    <a:pt x="1385650" y="650529"/>
                    <a:pt x="1345161" y="650529"/>
                  </a:cubicBezTo>
                  <a:lnTo>
                    <a:pt x="73311" y="650529"/>
                  </a:lnTo>
                  <a:cubicBezTo>
                    <a:pt x="53868" y="650529"/>
                    <a:pt x="35221" y="642805"/>
                    <a:pt x="21472" y="629056"/>
                  </a:cubicBezTo>
                  <a:cubicBezTo>
                    <a:pt x="7724" y="615308"/>
                    <a:pt x="0" y="596661"/>
                    <a:pt x="0" y="577217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18473" cy="774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77719" y="3680333"/>
            <a:ext cx="12862049" cy="3736365"/>
          </a:xfrm>
          <a:custGeom>
            <a:avLst/>
            <a:gdLst/>
            <a:ahLst/>
            <a:cxnLst/>
            <a:rect r="r" b="b" t="t" l="l"/>
            <a:pathLst>
              <a:path h="3736365" w="12862049">
                <a:moveTo>
                  <a:pt x="0" y="0"/>
                </a:moveTo>
                <a:lnTo>
                  <a:pt x="12862049" y="0"/>
                </a:lnTo>
                <a:lnTo>
                  <a:pt x="12862049" y="3736365"/>
                </a:lnTo>
                <a:lnTo>
                  <a:pt x="0" y="373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4080" y="428942"/>
            <a:ext cx="973836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Awal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398444" y="326541"/>
            <a:ext cx="1001434" cy="1001434"/>
          </a:xfrm>
          <a:custGeom>
            <a:avLst/>
            <a:gdLst/>
            <a:ahLst/>
            <a:cxnLst/>
            <a:rect r="r" b="b" t="t" l="l"/>
            <a:pathLst>
              <a:path h="1001434" w="1001434">
                <a:moveTo>
                  <a:pt x="0" y="0"/>
                </a:moveTo>
                <a:lnTo>
                  <a:pt x="1001433" y="0"/>
                </a:lnTo>
                <a:lnTo>
                  <a:pt x="1001433" y="1001434"/>
                </a:lnTo>
                <a:lnTo>
                  <a:pt x="0" y="1001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7719" y="1893089"/>
            <a:ext cx="9517860" cy="1511019"/>
          </a:xfrm>
          <a:custGeom>
            <a:avLst/>
            <a:gdLst/>
            <a:ahLst/>
            <a:cxnLst/>
            <a:rect r="r" b="b" t="t" l="l"/>
            <a:pathLst>
              <a:path h="1511019" w="9517860">
                <a:moveTo>
                  <a:pt x="0" y="0"/>
                </a:moveTo>
                <a:lnTo>
                  <a:pt x="9517860" y="0"/>
                </a:lnTo>
                <a:lnTo>
                  <a:pt x="9517860" y="1511019"/>
                </a:lnTo>
                <a:lnTo>
                  <a:pt x="0" y="1511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78" t="-29574" r="-4432" b="-2968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75834" y="7709945"/>
            <a:ext cx="4222609" cy="209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</a:p>
          <a:p>
            <a:pPr algn="l" marL="428858" indent="-214429" lvl="1">
              <a:lnSpc>
                <a:spcPts val="3376"/>
              </a:lnSpc>
              <a:buFont typeface="Arial"/>
              <a:buChar char="•"/>
            </a:pPr>
            <a:r>
              <a:rPr lang="en-US" sz="198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Jumlah ulasan: 3.005 baris</a:t>
            </a:r>
          </a:p>
          <a:p>
            <a:pPr algn="l" marL="428858" indent="-214429" lvl="1">
              <a:lnSpc>
                <a:spcPts val="3376"/>
              </a:lnSpc>
              <a:buFont typeface="Arial"/>
              <a:buChar char="•"/>
            </a:pPr>
            <a:r>
              <a:rPr lang="en-US" sz="198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Kolom: 3(Score, At, Content)</a:t>
            </a:r>
          </a:p>
          <a:p>
            <a:pPr algn="l" marL="428858" indent="-214429" lvl="1">
              <a:lnSpc>
                <a:spcPts val="3376"/>
              </a:lnSpc>
              <a:buFont typeface="Arial"/>
              <a:buChar char="•"/>
            </a:pPr>
            <a:r>
              <a:rPr lang="en-US" sz="198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Tidak ada missing value atau duplikasi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119" y="7223414"/>
            <a:ext cx="9202254" cy="2921724"/>
            <a:chOff x="0" y="0"/>
            <a:chExt cx="2423639" cy="769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3639" cy="769507"/>
            </a:xfrm>
            <a:custGeom>
              <a:avLst/>
              <a:gdLst/>
              <a:ahLst/>
              <a:cxnLst/>
              <a:rect r="r" b="b" t="t" l="l"/>
              <a:pathLst>
                <a:path h="769507" w="2423639">
                  <a:moveTo>
                    <a:pt x="42907" y="0"/>
                  </a:moveTo>
                  <a:lnTo>
                    <a:pt x="2380732" y="0"/>
                  </a:lnTo>
                  <a:cubicBezTo>
                    <a:pt x="2404429" y="0"/>
                    <a:pt x="2423639" y="19210"/>
                    <a:pt x="2423639" y="42907"/>
                  </a:cubicBezTo>
                  <a:lnTo>
                    <a:pt x="2423639" y="726601"/>
                  </a:lnTo>
                  <a:cubicBezTo>
                    <a:pt x="2423639" y="750298"/>
                    <a:pt x="2404429" y="769507"/>
                    <a:pt x="2380732" y="769507"/>
                  </a:cubicBezTo>
                  <a:lnTo>
                    <a:pt x="42907" y="769507"/>
                  </a:lnTo>
                  <a:cubicBezTo>
                    <a:pt x="19210" y="769507"/>
                    <a:pt x="0" y="750298"/>
                    <a:pt x="0" y="726601"/>
                  </a:cubicBezTo>
                  <a:lnTo>
                    <a:pt x="0" y="42907"/>
                  </a:lnTo>
                  <a:cubicBezTo>
                    <a:pt x="0" y="19210"/>
                    <a:pt x="19210" y="0"/>
                    <a:pt x="42907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423639" cy="8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84119" y="4664798"/>
            <a:ext cx="16519763" cy="2299000"/>
          </a:xfrm>
          <a:custGeom>
            <a:avLst/>
            <a:gdLst/>
            <a:ahLst/>
            <a:cxnLst/>
            <a:rect r="r" b="b" t="t" l="l"/>
            <a:pathLst>
              <a:path h="2299000" w="16519763">
                <a:moveTo>
                  <a:pt x="0" y="0"/>
                </a:moveTo>
                <a:lnTo>
                  <a:pt x="16519762" y="0"/>
                </a:lnTo>
                <a:lnTo>
                  <a:pt x="16519762" y="2299001"/>
                </a:lnTo>
                <a:lnTo>
                  <a:pt x="0" y="229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4080" y="1910162"/>
            <a:ext cx="4837284" cy="2320531"/>
          </a:xfrm>
          <a:custGeom>
            <a:avLst/>
            <a:gdLst/>
            <a:ahLst/>
            <a:cxnLst/>
            <a:rect r="r" b="b" t="t" l="l"/>
            <a:pathLst>
              <a:path h="2320531" w="4837284">
                <a:moveTo>
                  <a:pt x="0" y="0"/>
                </a:moveTo>
                <a:lnTo>
                  <a:pt x="4837284" y="0"/>
                </a:lnTo>
                <a:lnTo>
                  <a:pt x="4837284" y="2320531"/>
                </a:lnTo>
                <a:lnTo>
                  <a:pt x="0" y="2320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04080" y="390842"/>
            <a:ext cx="973836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Setelah NLP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5100" y="7644656"/>
            <a:ext cx="8726293" cy="231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70" indent="-197135" lvl="1">
              <a:lnSpc>
                <a:spcPts val="3104"/>
              </a:lnSpc>
              <a:buFont typeface="Arial"/>
              <a:buChar char="•"/>
            </a:pPr>
            <a:r>
              <a:rPr lang="en-US" sz="182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content(text awal), clean_content(setelah tahapan 1 NLP, stemmed_content(setelah tahapan 1 NLP(Stemming).</a:t>
            </a:r>
          </a:p>
          <a:p>
            <a:pPr algn="l" marL="394270" indent="-197135" lvl="1">
              <a:lnSpc>
                <a:spcPts val="3104"/>
              </a:lnSpc>
              <a:buFont typeface="Arial"/>
              <a:buChar char="•"/>
            </a:pPr>
            <a:r>
              <a:rPr lang="en-US" sz="182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Sebel</a:t>
            </a:r>
            <a:r>
              <a:rPr lang="en-US" sz="182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um: Teks mentah dari user (tanda baca, uppercase, emotikon, singkatan).</a:t>
            </a:r>
          </a:p>
          <a:p>
            <a:pPr algn="l" marL="394270" indent="-197135" lvl="1">
              <a:lnSpc>
                <a:spcPts val="3104"/>
              </a:lnSpc>
              <a:buFont typeface="Arial"/>
              <a:buChar char="•"/>
            </a:pPr>
            <a:r>
              <a:rPr lang="en-US" sz="182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Sesudah: Sudah melalui tahap preprocessing (lowercase, stopword removal, stemming, dll).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4453" y="2269305"/>
            <a:ext cx="9026436" cy="5748391"/>
            <a:chOff x="0" y="0"/>
            <a:chExt cx="12035248" cy="7664521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476" t="0" r="476" b="0"/>
            <a:stretch>
              <a:fillRect/>
            </a:stretch>
          </p:blipFill>
          <p:spPr>
            <a:xfrm flipH="false" flipV="false">
              <a:off x="0" y="0"/>
              <a:ext cx="12035248" cy="7664521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19841" y="4701275"/>
            <a:ext cx="6148105" cy="4680159"/>
          </a:xfrm>
          <a:custGeom>
            <a:avLst/>
            <a:gdLst/>
            <a:ahLst/>
            <a:cxnLst/>
            <a:rect r="r" b="b" t="t" l="l"/>
            <a:pathLst>
              <a:path h="4680159" w="6148105">
                <a:moveTo>
                  <a:pt x="0" y="0"/>
                </a:moveTo>
                <a:lnTo>
                  <a:pt x="6148105" y="0"/>
                </a:lnTo>
                <a:lnTo>
                  <a:pt x="6148105" y="4680158"/>
                </a:lnTo>
                <a:lnTo>
                  <a:pt x="0" y="4680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BOXPLOT- OUTLIER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89744" y="2728060"/>
            <a:ext cx="9540494" cy="6246871"/>
            <a:chOff x="0" y="0"/>
            <a:chExt cx="12720658" cy="8329162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678" t="0" r="1678" b="0"/>
            <a:stretch>
              <a:fillRect/>
            </a:stretch>
          </p:blipFill>
          <p:spPr>
            <a:xfrm flipH="false" flipV="false">
              <a:off x="0" y="0"/>
              <a:ext cx="12720658" cy="8329162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1177" y="708752"/>
            <a:ext cx="1094799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DISTRIBUSI-SCORE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080" y="4102650"/>
            <a:ext cx="693806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Diagram batang jumlah ulasan berdasarkan skor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Insight: Mayoritas review berada di skor 1–2 → perlu ditindaklanjuti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298" y="1451954"/>
            <a:ext cx="6413085" cy="4180003"/>
            <a:chOff x="0" y="0"/>
            <a:chExt cx="1770534" cy="115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0534" cy="1154021"/>
            </a:xfrm>
            <a:custGeom>
              <a:avLst/>
              <a:gdLst/>
              <a:ahLst/>
              <a:cxnLst/>
              <a:rect r="r" b="b" t="t" l="l"/>
              <a:pathLst>
                <a:path h="1154021" w="1770534">
                  <a:moveTo>
                    <a:pt x="27766" y="0"/>
                  </a:moveTo>
                  <a:lnTo>
                    <a:pt x="1742768" y="0"/>
                  </a:lnTo>
                  <a:cubicBezTo>
                    <a:pt x="1750132" y="0"/>
                    <a:pt x="1757194" y="2925"/>
                    <a:pt x="1762401" y="8132"/>
                  </a:cubicBezTo>
                  <a:cubicBezTo>
                    <a:pt x="1767608" y="13339"/>
                    <a:pt x="1770534" y="20402"/>
                    <a:pt x="1770534" y="27766"/>
                  </a:cubicBezTo>
                  <a:lnTo>
                    <a:pt x="1770534" y="1126255"/>
                  </a:lnTo>
                  <a:cubicBezTo>
                    <a:pt x="1770534" y="1141590"/>
                    <a:pt x="1758102" y="1154021"/>
                    <a:pt x="1742768" y="1154021"/>
                  </a:cubicBezTo>
                  <a:lnTo>
                    <a:pt x="27766" y="1154021"/>
                  </a:lnTo>
                  <a:cubicBezTo>
                    <a:pt x="20402" y="1154021"/>
                    <a:pt x="13339" y="1151096"/>
                    <a:pt x="8132" y="1145889"/>
                  </a:cubicBezTo>
                  <a:cubicBezTo>
                    <a:pt x="2925" y="1140682"/>
                    <a:pt x="0" y="1133619"/>
                    <a:pt x="0" y="1126255"/>
                  </a:cubicBezTo>
                  <a:lnTo>
                    <a:pt x="0" y="27766"/>
                  </a:lnTo>
                  <a:cubicBezTo>
                    <a:pt x="0" y="12431"/>
                    <a:pt x="12431" y="0"/>
                    <a:pt x="27766" y="0"/>
                  </a:cubicBezTo>
                  <a:close/>
                </a:path>
              </a:pathLst>
            </a:custGeom>
            <a:blipFill>
              <a:blip r:embed="rId2"/>
              <a:stretch>
                <a:fillRect l="-1506" t="0" r="-150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7298" y="452387"/>
            <a:ext cx="4713038" cy="85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5"/>
              </a:lnSpc>
              <a:spcBef>
                <a:spcPct val="0"/>
              </a:spcBef>
            </a:pPr>
            <a:r>
              <a:rPr lang="en-US" b="true" sz="5032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SCORE TINGGI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52617" y="2408603"/>
            <a:ext cx="8606683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 10 (bantu, oke, bagus, mantap,efin, mudah, baik, good, email, lupa)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kata “bantu” paling sering muncul sekitar 90 kali muncul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52617" y="7889141"/>
            <a:ext cx="8606683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Pengguna merasa terbantu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Layanan dinilai bagus dan mudah digunakan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Sistem seperti e-FIN diapresiasi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52617" y="6135900"/>
            <a:ext cx="860668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 Kata: bantu, oke, bag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us, mantap, efin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52617" y="1561099"/>
            <a:ext cx="8606683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WORD-FREQUENSI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52617" y="7313678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Kesimpulan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2617" y="5113703"/>
            <a:ext cx="2624918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Word-Cloud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27298" y="5957797"/>
            <a:ext cx="6462522" cy="3419786"/>
            <a:chOff x="0" y="0"/>
            <a:chExt cx="2180806" cy="11540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0805" cy="1154021"/>
            </a:xfrm>
            <a:custGeom>
              <a:avLst/>
              <a:gdLst/>
              <a:ahLst/>
              <a:cxnLst/>
              <a:rect r="r" b="b" t="t" l="l"/>
              <a:pathLst>
                <a:path h="1154021" w="2180805">
                  <a:moveTo>
                    <a:pt x="27553" y="0"/>
                  </a:moveTo>
                  <a:lnTo>
                    <a:pt x="2153252" y="0"/>
                  </a:lnTo>
                  <a:cubicBezTo>
                    <a:pt x="2168469" y="0"/>
                    <a:pt x="2180805" y="12336"/>
                    <a:pt x="2180805" y="27553"/>
                  </a:cubicBezTo>
                  <a:lnTo>
                    <a:pt x="2180805" y="1126468"/>
                  </a:lnTo>
                  <a:cubicBezTo>
                    <a:pt x="2180805" y="1141685"/>
                    <a:pt x="2168469" y="1154021"/>
                    <a:pt x="2153252" y="1154021"/>
                  </a:cubicBezTo>
                  <a:lnTo>
                    <a:pt x="27553" y="1154021"/>
                  </a:lnTo>
                  <a:cubicBezTo>
                    <a:pt x="12336" y="1154021"/>
                    <a:pt x="0" y="1141685"/>
                    <a:pt x="0" y="1126468"/>
                  </a:cubicBezTo>
                  <a:lnTo>
                    <a:pt x="0" y="27553"/>
                  </a:lnTo>
                  <a:cubicBezTo>
                    <a:pt x="0" y="12336"/>
                    <a:pt x="12336" y="0"/>
                    <a:pt x="2755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710" r="0" b="-171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298" y="1451954"/>
            <a:ext cx="6413085" cy="4180003"/>
            <a:chOff x="0" y="0"/>
            <a:chExt cx="1770534" cy="115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0534" cy="1154021"/>
            </a:xfrm>
            <a:custGeom>
              <a:avLst/>
              <a:gdLst/>
              <a:ahLst/>
              <a:cxnLst/>
              <a:rect r="r" b="b" t="t" l="l"/>
              <a:pathLst>
                <a:path h="1154021" w="1770534">
                  <a:moveTo>
                    <a:pt x="27766" y="0"/>
                  </a:moveTo>
                  <a:lnTo>
                    <a:pt x="1742768" y="0"/>
                  </a:lnTo>
                  <a:cubicBezTo>
                    <a:pt x="1750132" y="0"/>
                    <a:pt x="1757194" y="2925"/>
                    <a:pt x="1762401" y="8132"/>
                  </a:cubicBezTo>
                  <a:cubicBezTo>
                    <a:pt x="1767608" y="13339"/>
                    <a:pt x="1770534" y="20402"/>
                    <a:pt x="1770534" y="27766"/>
                  </a:cubicBezTo>
                  <a:lnTo>
                    <a:pt x="1770534" y="1126255"/>
                  </a:lnTo>
                  <a:cubicBezTo>
                    <a:pt x="1770534" y="1141590"/>
                    <a:pt x="1758102" y="1154021"/>
                    <a:pt x="1742768" y="1154021"/>
                  </a:cubicBezTo>
                  <a:lnTo>
                    <a:pt x="27766" y="1154021"/>
                  </a:lnTo>
                  <a:cubicBezTo>
                    <a:pt x="20402" y="1154021"/>
                    <a:pt x="13339" y="1151096"/>
                    <a:pt x="8132" y="1145889"/>
                  </a:cubicBezTo>
                  <a:cubicBezTo>
                    <a:pt x="2925" y="1140682"/>
                    <a:pt x="0" y="1133619"/>
                    <a:pt x="0" y="1126255"/>
                  </a:cubicBezTo>
                  <a:lnTo>
                    <a:pt x="0" y="27766"/>
                  </a:lnTo>
                  <a:cubicBezTo>
                    <a:pt x="0" y="12431"/>
                    <a:pt x="12431" y="0"/>
                    <a:pt x="27766" y="0"/>
                  </a:cubicBezTo>
                  <a:close/>
                </a:path>
              </a:pathLst>
            </a:custGeom>
            <a:blipFill>
              <a:blip r:embed="rId2"/>
              <a:stretch>
                <a:fillRect l="-921" t="0" r="-9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7298" y="452387"/>
            <a:ext cx="4713038" cy="85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5"/>
              </a:lnSpc>
              <a:spcBef>
                <a:spcPct val="0"/>
              </a:spcBef>
            </a:pPr>
            <a:r>
              <a:rPr lang="en-US" b="true" sz="5032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SCORE SEDANG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52617" y="2408603"/>
            <a:ext cx="8606683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 10 (Kode, efin, npwp, tolong,sulit, masuk, daftar, alpor, bayar, oke)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kata “kode” paling sering muncul sekitar 14 kali muncul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52617" y="6916237"/>
            <a:ext cx="8606683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Banyak permintaan bantuan, Kata “tolong”, “gagal”, dan “sulit” menunjukkan adanya frustrasi ringan.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Pengguna mengalami kendala teknis ringan seperti masalah login, daftar, kode, dan verifikasi.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Ada potensi perbaikan pada alur login dan verifikasi.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49761" y="5090298"/>
            <a:ext cx="860668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 Kata: bantu, oke, bag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us, mantap, efin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52617" y="1561099"/>
            <a:ext cx="8606683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WORD-FREQUENSI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52617" y="6017712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Kesimpulan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2617" y="4238668"/>
            <a:ext cx="2624918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Word-Cloud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28700" y="5774833"/>
            <a:ext cx="6361119" cy="3602750"/>
            <a:chOff x="0" y="0"/>
            <a:chExt cx="2146587" cy="12157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6587" cy="1215763"/>
            </a:xfrm>
            <a:custGeom>
              <a:avLst/>
              <a:gdLst/>
              <a:ahLst/>
              <a:cxnLst/>
              <a:rect r="r" b="b" t="t" l="l"/>
              <a:pathLst>
                <a:path h="1215763" w="2146587">
                  <a:moveTo>
                    <a:pt x="27993" y="0"/>
                  </a:moveTo>
                  <a:lnTo>
                    <a:pt x="2118594" y="0"/>
                  </a:lnTo>
                  <a:cubicBezTo>
                    <a:pt x="2134054" y="0"/>
                    <a:pt x="2146587" y="12533"/>
                    <a:pt x="2146587" y="27993"/>
                  </a:cubicBezTo>
                  <a:lnTo>
                    <a:pt x="2146587" y="1187771"/>
                  </a:lnTo>
                  <a:cubicBezTo>
                    <a:pt x="2146587" y="1203231"/>
                    <a:pt x="2134054" y="1215763"/>
                    <a:pt x="2118594" y="1215763"/>
                  </a:cubicBezTo>
                  <a:lnTo>
                    <a:pt x="27993" y="1215763"/>
                  </a:lnTo>
                  <a:cubicBezTo>
                    <a:pt x="12533" y="1215763"/>
                    <a:pt x="0" y="1203231"/>
                    <a:pt x="0" y="1187771"/>
                  </a:cubicBezTo>
                  <a:lnTo>
                    <a:pt x="0" y="27993"/>
                  </a:lnTo>
                  <a:cubicBezTo>
                    <a:pt x="0" y="12533"/>
                    <a:pt x="12533" y="0"/>
                    <a:pt x="27993" y="0"/>
                  </a:cubicBezTo>
                  <a:close/>
                </a:path>
              </a:pathLst>
            </a:custGeom>
            <a:blipFill>
              <a:blip r:embed="rId3"/>
              <a:stretch>
                <a:fillRect l="-405" t="0" r="-405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298" y="1451954"/>
            <a:ext cx="6600015" cy="4180003"/>
            <a:chOff x="0" y="0"/>
            <a:chExt cx="1822142" cy="115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2141" cy="1154021"/>
            </a:xfrm>
            <a:custGeom>
              <a:avLst/>
              <a:gdLst/>
              <a:ahLst/>
              <a:cxnLst/>
              <a:rect r="r" b="b" t="t" l="l"/>
              <a:pathLst>
                <a:path h="1154021" w="1822141">
                  <a:moveTo>
                    <a:pt x="26979" y="0"/>
                  </a:moveTo>
                  <a:lnTo>
                    <a:pt x="1795162" y="0"/>
                  </a:lnTo>
                  <a:cubicBezTo>
                    <a:pt x="1802318" y="0"/>
                    <a:pt x="1809180" y="2842"/>
                    <a:pt x="1814239" y="7902"/>
                  </a:cubicBezTo>
                  <a:cubicBezTo>
                    <a:pt x="1819299" y="12962"/>
                    <a:pt x="1822141" y="19824"/>
                    <a:pt x="1822141" y="26979"/>
                  </a:cubicBezTo>
                  <a:lnTo>
                    <a:pt x="1822141" y="1127042"/>
                  </a:lnTo>
                  <a:cubicBezTo>
                    <a:pt x="1822141" y="1141942"/>
                    <a:pt x="1810062" y="1154021"/>
                    <a:pt x="1795162" y="1154021"/>
                  </a:cubicBezTo>
                  <a:lnTo>
                    <a:pt x="26979" y="1154021"/>
                  </a:lnTo>
                  <a:cubicBezTo>
                    <a:pt x="19824" y="1154021"/>
                    <a:pt x="12962" y="1151179"/>
                    <a:pt x="7902" y="1146119"/>
                  </a:cubicBezTo>
                  <a:cubicBezTo>
                    <a:pt x="2842" y="1141060"/>
                    <a:pt x="0" y="1134197"/>
                    <a:pt x="0" y="1127042"/>
                  </a:cubicBezTo>
                  <a:lnTo>
                    <a:pt x="0" y="26979"/>
                  </a:lnTo>
                  <a:cubicBezTo>
                    <a:pt x="0" y="19824"/>
                    <a:pt x="2842" y="12962"/>
                    <a:pt x="7902" y="7902"/>
                  </a:cubicBezTo>
                  <a:cubicBezTo>
                    <a:pt x="12962" y="2842"/>
                    <a:pt x="19824" y="0"/>
                    <a:pt x="26979" y="0"/>
                  </a:cubicBezTo>
                  <a:close/>
                </a:path>
              </a:pathLst>
            </a:custGeom>
            <a:blipFill>
              <a:blip r:embed="rId2"/>
              <a:stretch>
                <a:fillRect l="-1225" t="0" r="-12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7298" y="452387"/>
            <a:ext cx="4713038" cy="85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5"/>
              </a:lnSpc>
              <a:spcBef>
                <a:spcPct val="0"/>
              </a:spcBef>
            </a:pPr>
            <a:r>
              <a:rPr lang="en-US" b="true" sz="5032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SCORE RENDAH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9761" y="2037128"/>
            <a:ext cx="8606683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 10 (sulit, verifikasi, kode, masuk, email,efin, login, lapor, bikin, daftar)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kata “sulit” paling sering muncul sekitar ~650 kali muncul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Masalah utama berputar pada proses verifikasi, login, lapor, pembuatan akun (daftar/bikin), serta penggunaan EFIN dan email.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52617" y="7081224"/>
            <a:ext cx="9311788" cy="332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811" indent="-210905" lvl="1">
              <a:lnSpc>
                <a:spcPts val="3321"/>
              </a:lnSpc>
              <a:buFont typeface="Arial"/>
              <a:buChar char="•"/>
            </a:pPr>
            <a:r>
              <a:rPr lang="en-US" sz="19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Akses awal membingungkan</a:t>
            </a:r>
            <a:r>
              <a:rPr lang="en-US" sz="19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(login, verifikasi)</a:t>
            </a:r>
          </a:p>
          <a:p>
            <a:pPr algn="l" marL="421811" indent="-210905" lvl="1">
              <a:lnSpc>
                <a:spcPts val="3321"/>
              </a:lnSpc>
              <a:buFont typeface="Arial"/>
              <a:buChar char="•"/>
            </a:pPr>
            <a:r>
              <a:rPr lang="en-US" sz="19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Banyak yang kesulitan saat daftar dan lapor</a:t>
            </a:r>
          </a:p>
          <a:p>
            <a:pPr algn="l" marL="421811" indent="-210905" lvl="1">
              <a:lnSpc>
                <a:spcPts val="3321"/>
              </a:lnSpc>
              <a:buFont typeface="Arial"/>
              <a:buChar char="•"/>
            </a:pPr>
            <a:r>
              <a:rPr lang="en-US" sz="19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Sediakan panduan yang jelas dan customer support yang responsif, terutama terkait pendaftaran dan aktivasi akun.</a:t>
            </a:r>
          </a:p>
          <a:p>
            <a:pPr algn="l" marL="421811" indent="-210905" lvl="1">
              <a:lnSpc>
                <a:spcPts val="3321"/>
              </a:lnSpc>
              <a:buFont typeface="Arial"/>
              <a:buChar char="•"/>
            </a:pPr>
            <a:r>
              <a:rPr lang="en-US" sz="1953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Permudah proses login &amp; verifikasi, Panduan,Perbaiki UX sistem e-FIN &amp; email.</a:t>
            </a:r>
          </a:p>
          <a:p>
            <a:pPr algn="l">
              <a:lnSpc>
                <a:spcPts val="3321"/>
              </a:lnSpc>
            </a:pPr>
          </a:p>
          <a:p>
            <a:pPr algn="l">
              <a:lnSpc>
                <a:spcPts val="332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52617" y="5652997"/>
            <a:ext cx="860668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 Kata: sulit, verifika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si, kode, masuk, email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52617" y="1561099"/>
            <a:ext cx="8606683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WORD-FREQUENSI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52617" y="6303611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Kesimpulan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2617" y="5113703"/>
            <a:ext cx="2624918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Word-Cloud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27298" y="5957797"/>
            <a:ext cx="6462522" cy="3419786"/>
            <a:chOff x="0" y="0"/>
            <a:chExt cx="2180806" cy="11540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0805" cy="1154021"/>
            </a:xfrm>
            <a:custGeom>
              <a:avLst/>
              <a:gdLst/>
              <a:ahLst/>
              <a:cxnLst/>
              <a:rect r="r" b="b" t="t" l="l"/>
              <a:pathLst>
                <a:path h="1154021" w="2180805">
                  <a:moveTo>
                    <a:pt x="27553" y="0"/>
                  </a:moveTo>
                  <a:lnTo>
                    <a:pt x="2153252" y="0"/>
                  </a:lnTo>
                  <a:cubicBezTo>
                    <a:pt x="2168469" y="0"/>
                    <a:pt x="2180805" y="12336"/>
                    <a:pt x="2180805" y="27553"/>
                  </a:cubicBezTo>
                  <a:lnTo>
                    <a:pt x="2180805" y="1126468"/>
                  </a:lnTo>
                  <a:cubicBezTo>
                    <a:pt x="2180805" y="1141685"/>
                    <a:pt x="2168469" y="1154021"/>
                    <a:pt x="2153252" y="1154021"/>
                  </a:cubicBezTo>
                  <a:lnTo>
                    <a:pt x="27553" y="1154021"/>
                  </a:lnTo>
                  <a:cubicBezTo>
                    <a:pt x="12336" y="1154021"/>
                    <a:pt x="0" y="1141685"/>
                    <a:pt x="0" y="1126468"/>
                  </a:cubicBezTo>
                  <a:lnTo>
                    <a:pt x="0" y="27553"/>
                  </a:lnTo>
                  <a:cubicBezTo>
                    <a:pt x="0" y="12336"/>
                    <a:pt x="12336" y="0"/>
                    <a:pt x="2755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35" r="0" b="-33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1375" y="2126282"/>
            <a:ext cx="9284828" cy="7350103"/>
          </a:xfrm>
          <a:custGeom>
            <a:avLst/>
            <a:gdLst/>
            <a:ahLst/>
            <a:cxnLst/>
            <a:rect r="r" b="b" t="t" l="l"/>
            <a:pathLst>
              <a:path h="7350103" w="9284828">
                <a:moveTo>
                  <a:pt x="0" y="0"/>
                </a:moveTo>
                <a:lnTo>
                  <a:pt x="9284827" y="0"/>
                </a:lnTo>
                <a:lnTo>
                  <a:pt x="9284827" y="7350103"/>
                </a:lnTo>
                <a:lnTo>
                  <a:pt x="0" y="7350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402" y="811742"/>
            <a:ext cx="12447755" cy="92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b="true" sz="54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Tingkat Kepuasan berdasarkan Kategori keluhan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25399" y="3646439"/>
            <a:ext cx="7290992" cy="382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20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Kategori keluhan yang Paling Banyak Dikeluhkan:</a:t>
            </a:r>
          </a:p>
          <a:p>
            <a:pPr algn="l" marL="446285" indent="-223142" lvl="1">
              <a:lnSpc>
                <a:spcPts val="3514"/>
              </a:lnSpc>
              <a:buFont typeface="Arial"/>
              <a:buChar char="•"/>
            </a:pPr>
            <a:r>
              <a:rPr lang="en-US" sz="20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Login: Fitur paling sering disebut dengan ulasan sangat rendah (hampir seluruhnya negatif). Ini titik kritis sistem.</a:t>
            </a:r>
          </a:p>
          <a:p>
            <a:pPr algn="l" marL="446285" indent="-223142" lvl="1">
              <a:lnSpc>
                <a:spcPts val="3514"/>
              </a:lnSpc>
              <a:buFont typeface="Arial"/>
              <a:buChar char="•"/>
            </a:pPr>
            <a:r>
              <a:rPr lang="en-US" sz="20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Error &amp; efin: Tingkat keluhan juga tinggi, dominan di kategori rendah, namun ada sedikit ulasan positif → indikasi ketidakkonsistenan fungsi.</a:t>
            </a:r>
          </a:p>
          <a:p>
            <a:pPr algn="l" marL="446285" indent="-223142" lvl="1">
              <a:lnSpc>
                <a:spcPts val="3514"/>
              </a:lnSpc>
              <a:buFont typeface="Arial"/>
              <a:buChar char="•"/>
            </a:pPr>
            <a:r>
              <a:rPr lang="en-US" sz="20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Loading &amp; Bug: Hampir seluruh ulasan bernada negatif → perlu perbaikan teknis segera.</a:t>
            </a:r>
          </a:p>
          <a:p>
            <a:pPr algn="l" marL="0" indent="0" lvl="0">
              <a:lnSpc>
                <a:spcPts val="266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83102" y="4157065"/>
            <a:ext cx="4210757" cy="3273864"/>
          </a:xfrm>
          <a:custGeom>
            <a:avLst/>
            <a:gdLst/>
            <a:ahLst/>
            <a:cxnLst/>
            <a:rect r="r" b="b" t="t" l="l"/>
            <a:pathLst>
              <a:path h="3273864" w="4210757">
                <a:moveTo>
                  <a:pt x="0" y="0"/>
                </a:moveTo>
                <a:lnTo>
                  <a:pt x="4210757" y="0"/>
                </a:lnTo>
                <a:lnTo>
                  <a:pt x="4210757" y="3273863"/>
                </a:lnTo>
                <a:lnTo>
                  <a:pt x="0" y="3273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072549" y="8824864"/>
            <a:ext cx="4346753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243473" y="8853439"/>
            <a:ext cx="4716390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Closing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5180" y="3894724"/>
            <a:ext cx="5637191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Aplikasi M-Pajak menghadapi banyak keluhan teknis, terutama login dan verifikasi EFIN, autentikasi, dan pengalaman akses pertama kali.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Sebagian pengguna menunjukkan niat untuk memakai, tapi terhambat teknis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Sentimen negatif mendominasi ulasan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1086" y="3137169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Kesimpulan keseluruhan: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25950" y="3890131"/>
            <a:ext cx="5348229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Prioritaskan perbaikan fitur login dan EFIN (akses awal pengguna)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Tingkatkan stabilitas sistem (minimalkan error, bug, loading lambat)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Dorong komunikasi proaktif dan tutorial penggunaan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911071" y="3244336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Rekomendasi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DAGmE2l1rKA</dc:identifier>
  <dcterms:modified xsi:type="dcterms:W3CDTF">2011-08-01T06:04:30Z</dcterms:modified>
  <cp:revision>1</cp:revision>
  <dc:title>Portfolio 2</dc:title>
</cp:coreProperties>
</file>